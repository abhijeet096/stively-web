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4201775" cy="10048875"/>
  <p:notesSz cx="10048875" cy="142017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589" y="3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0896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201775" cy="10048875"/>
          </a:xfrm>
          <a:prstGeom prst="rect">
            <a:avLst/>
          </a:prstGeom>
          <a:gradFill rotWithShape="1">
            <a:gsLst>
              <a:gs pos="0">
                <a:srgbClr val="0F4A34">
                  <a:alpha val="100000"/>
                </a:srgbClr>
              </a:gs>
              <a:gs pos="55000">
                <a:srgbClr val="0A3326">
                  <a:alpha val="100000"/>
                </a:srgbClr>
              </a:gs>
              <a:gs pos="100000">
                <a:srgbClr val="072519">
                  <a:alpha val="100000"/>
                </a:srgbClr>
              </a:gs>
            </a:gsLst>
            <a:lin ang="42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647700" y="647700"/>
            <a:ext cx="895350" cy="76200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85750" y="1714500"/>
            <a:ext cx="1257300" cy="657225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62050" y="161925"/>
            <a:ext cx="9934575" cy="9715500"/>
          </a:xfrm>
          <a:prstGeom prst="rect">
            <a:avLst/>
          </a:prstGeom>
          <a:solidFill>
            <a:srgbClr val="F3F9F5"/>
          </a:solidFill>
          <a:ln/>
        </p:spPr>
      </p:sp>
      <p:sp>
        <p:nvSpPr>
          <p:cNvPr id="6" name="Shape 4"/>
          <p:cNvSpPr/>
          <p:nvPr/>
        </p:nvSpPr>
        <p:spPr>
          <a:xfrm>
            <a:off x="1162050" y="161925"/>
            <a:ext cx="1047750" cy="9715500"/>
          </a:xfrm>
          <a:prstGeom prst="rect">
            <a:avLst/>
          </a:prstGeom>
          <a:solidFill>
            <a:srgbClr val="148C5A">
              <a:alpha val="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620250" y="542925"/>
            <a:ext cx="571500" cy="9334500"/>
          </a:xfrm>
          <a:prstGeom prst="rect">
            <a:avLst/>
          </a:prstGeom>
          <a:solidFill>
            <a:srgbClr val="148C5A">
              <a:alpha val="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191750" y="1304925"/>
            <a:ext cx="904875" cy="8572500"/>
          </a:xfrm>
          <a:prstGeom prst="rect">
            <a:avLst/>
          </a:prstGeom>
          <a:solidFill>
            <a:srgbClr val="148C5A">
              <a:alpha val="9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352550" y="533400"/>
            <a:ext cx="581025" cy="581025"/>
          </a:xfrm>
          <a:prstGeom prst="roundRect">
            <a:avLst>
              <a:gd name="adj" fmla="val 18033"/>
            </a:avLst>
          </a:prstGeom>
          <a:solidFill>
            <a:srgbClr val="0D5A3A"/>
          </a:solidFill>
          <a:ln/>
        </p:spPr>
      </p:sp>
      <p:sp>
        <p:nvSpPr>
          <p:cNvPr id="10" name="Text 8"/>
          <p:cNvSpPr/>
          <p:nvPr/>
        </p:nvSpPr>
        <p:spPr>
          <a:xfrm>
            <a:off x="1314450" y="533400"/>
            <a:ext cx="657225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2066925" y="561975"/>
            <a:ext cx="2738199" cy="363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b="1" kern="0" spc="-37" dirty="0">
                <a:solidFill>
                  <a:srgbClr val="1023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Stively Technologies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2076450" y="933450"/>
            <a:ext cx="2304574" cy="169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75" dirty="0">
                <a:solidFill>
                  <a:srgbClr val="2C3D35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LEARN · BUILD · GROW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7491464" y="571500"/>
            <a:ext cx="313843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3750"/>
              </a:lnSpc>
              <a:buNone/>
            </a:pPr>
            <a:r>
              <a:rPr lang="en-US" sz="938" b="1" kern="0" spc="150" dirty="0">
                <a:solidFill>
                  <a:srgbClr val="1D2A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CERTIFICATE ID: STV-FE-INT-2026-0011</a:t>
            </a:r>
            <a:endParaRPr lang="en-US" sz="938" dirty="0"/>
          </a:p>
        </p:txBody>
      </p:sp>
      <p:sp>
        <p:nvSpPr>
          <p:cNvPr id="14" name="Text 12"/>
          <p:cNvSpPr/>
          <p:nvPr/>
        </p:nvSpPr>
        <p:spPr>
          <a:xfrm>
            <a:off x="7491464" y="790575"/>
            <a:ext cx="313843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43750"/>
              </a:lnSpc>
              <a:buNone/>
            </a:pPr>
            <a:r>
              <a:rPr lang="en-US" sz="938" b="1" kern="0" spc="150" dirty="0">
                <a:solidFill>
                  <a:srgbClr val="1D2A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ISSUED ON: 16 SEP 2026</a:t>
            </a:r>
            <a:endParaRPr lang="en-US" sz="938" dirty="0"/>
          </a:p>
        </p:txBody>
      </p:sp>
      <p:sp>
        <p:nvSpPr>
          <p:cNvPr id="15" name="Text 13"/>
          <p:cNvSpPr/>
          <p:nvPr/>
        </p:nvSpPr>
        <p:spPr>
          <a:xfrm>
            <a:off x="733425" y="1190625"/>
            <a:ext cx="1047750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79362"/>
              </a:lnSpc>
              <a:buNone/>
            </a:pPr>
            <a:r>
              <a:rPr lang="en-US" sz="6450" b="1" kern="0" spc="75" dirty="0">
                <a:solidFill>
                  <a:srgbClr val="0E211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INTERNSHIP</a:t>
            </a:r>
            <a:endParaRPr lang="en-US" sz="6450" dirty="0"/>
          </a:p>
        </p:txBody>
      </p:sp>
      <p:sp>
        <p:nvSpPr>
          <p:cNvPr id="16" name="Text 14"/>
          <p:cNvSpPr/>
          <p:nvPr/>
        </p:nvSpPr>
        <p:spPr>
          <a:xfrm>
            <a:off x="733425" y="1990725"/>
            <a:ext cx="10477500" cy="3498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kern="0" spc="713" dirty="0">
                <a:solidFill>
                  <a:srgbClr val="0D5A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COMPLETION CERTIFICATE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5686425" y="2428875"/>
            <a:ext cx="571500" cy="38100"/>
          </a:xfrm>
          <a:prstGeom prst="rect">
            <a:avLst/>
          </a:prstGeom>
          <a:solidFill>
            <a:srgbClr val="0D5A3A"/>
          </a:solidFill>
          <a:ln/>
        </p:spPr>
      </p:sp>
      <p:sp>
        <p:nvSpPr>
          <p:cNvPr id="18" name="Text 16"/>
          <p:cNvSpPr/>
          <p:nvPr/>
        </p:nvSpPr>
        <p:spPr>
          <a:xfrm>
            <a:off x="733425" y="2628900"/>
            <a:ext cx="10477500" cy="197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975" b="1" kern="0" spc="300" dirty="0">
                <a:solidFill>
                  <a:srgbClr val="1D2A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THIS IS TO CERTIFY THAT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733425" y="2847975"/>
            <a:ext cx="10477500" cy="8152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90484"/>
              </a:lnSpc>
              <a:buNone/>
            </a:pPr>
            <a:r>
              <a:rPr lang="en-US" sz="5100" b="1" dirty="0">
                <a:solidFill>
                  <a:srgbClr val="0D4A3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Abhijit Santosh Karande</a:t>
            </a:r>
            <a:endParaRPr lang="en-US" sz="5100" dirty="0"/>
          </a:p>
        </p:txBody>
      </p:sp>
      <p:sp>
        <p:nvSpPr>
          <p:cNvPr id="20" name="Shape 18"/>
          <p:cNvSpPr/>
          <p:nvPr/>
        </p:nvSpPr>
        <p:spPr>
          <a:xfrm>
            <a:off x="3048000" y="3676650"/>
            <a:ext cx="5905500" cy="14288"/>
          </a:xfrm>
          <a:prstGeom prst="rect">
            <a:avLst/>
          </a:prstGeom>
          <a:solidFill>
            <a:srgbClr val="5B6B63"/>
          </a:solidFill>
          <a:ln/>
        </p:spPr>
      </p:sp>
      <p:sp>
        <p:nvSpPr>
          <p:cNvPr id="21" name="Text 19"/>
          <p:cNvSpPr/>
          <p:nvPr/>
        </p:nvSpPr>
        <p:spPr>
          <a:xfrm>
            <a:off x="733425" y="3752850"/>
            <a:ext cx="10477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dirty="0">
                <a:solidFill>
                  <a:srgbClr val="1D2A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has successfully completed the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733425" y="4010025"/>
            <a:ext cx="10477500" cy="5437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3150" b="1" kern="0" spc="-22" dirty="0">
                <a:solidFill>
                  <a:srgbClr val="0D4A3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Frontend Development Internship</a:t>
            </a:r>
            <a:endParaRPr lang="en-US" sz="315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0" y="4667250"/>
            <a:ext cx="419100" cy="3810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3924300" y="4695825"/>
            <a:ext cx="2024658" cy="179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467"/>
              </a:lnSpc>
              <a:buNone/>
            </a:pPr>
            <a:r>
              <a:rPr lang="en-US" sz="825" b="1" kern="0" spc="38" dirty="0">
                <a:solidFill>
                  <a:srgbClr val="0D5A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DURATION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3924300" y="4837185"/>
            <a:ext cx="2024658" cy="2437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71"/>
              </a:lnSpc>
              <a:buNone/>
            </a:pPr>
            <a:r>
              <a:rPr lang="en-US" sz="1200" dirty="0">
                <a:solidFill>
                  <a:srgbClr val="1D2A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 Jun 2026 – 15 Sep 2026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924300" y="5042838"/>
            <a:ext cx="2024658" cy="2244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63"/>
              </a:lnSpc>
              <a:buNone/>
            </a:pPr>
            <a:r>
              <a:rPr lang="en-US" sz="1088" dirty="0">
                <a:solidFill>
                  <a:srgbClr val="4A5A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(3 Months)</a:t>
            </a:r>
            <a:endParaRPr lang="en-US" sz="1088" dirty="0"/>
          </a:p>
        </p:txBody>
      </p:sp>
      <p:sp>
        <p:nvSpPr>
          <p:cNvPr id="27" name="Shape 24"/>
          <p:cNvSpPr/>
          <p:nvPr/>
        </p:nvSpPr>
        <p:spPr>
          <a:xfrm>
            <a:off x="6229350" y="4600575"/>
            <a:ext cx="14288" cy="609600"/>
          </a:xfrm>
          <a:prstGeom prst="rect">
            <a:avLst/>
          </a:prstGeom>
          <a:solidFill>
            <a:srgbClr val="9AA8A1"/>
          </a:solidFill>
          <a:ln/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0" y="4648200"/>
            <a:ext cx="457200" cy="40005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524750" y="4695825"/>
            <a:ext cx="1447324" cy="179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467"/>
              </a:lnSpc>
              <a:buNone/>
            </a:pPr>
            <a:r>
              <a:rPr lang="en-US" sz="825" b="1" kern="0" spc="38" dirty="0">
                <a:solidFill>
                  <a:srgbClr val="0D5A3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MODE</a:t>
            </a:r>
            <a:endParaRPr lang="en-US" sz="825" dirty="0"/>
          </a:p>
        </p:txBody>
      </p:sp>
      <p:sp>
        <p:nvSpPr>
          <p:cNvPr id="30" name="Text 26"/>
          <p:cNvSpPr/>
          <p:nvPr/>
        </p:nvSpPr>
        <p:spPr>
          <a:xfrm>
            <a:off x="7524750" y="4837185"/>
            <a:ext cx="1447324" cy="2437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71"/>
              </a:lnSpc>
              <a:buNone/>
            </a:pPr>
            <a:r>
              <a:rPr lang="en-US" sz="1200" dirty="0">
                <a:solidFill>
                  <a:srgbClr val="1D2A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Remote Internship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7524750" y="5042838"/>
            <a:ext cx="1447324" cy="2244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663"/>
              </a:lnSpc>
              <a:buNone/>
            </a:pPr>
            <a:r>
              <a:rPr lang="en-US" sz="1088" dirty="0">
                <a:solidFill>
                  <a:srgbClr val="4A5A5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(Project Based)</a:t>
            </a:r>
            <a:endParaRPr lang="en-US" sz="1088" dirty="0"/>
          </a:p>
        </p:txBody>
      </p:sp>
      <p:sp>
        <p:nvSpPr>
          <p:cNvPr id="32" name="Text 28"/>
          <p:cNvSpPr/>
          <p:nvPr/>
        </p:nvSpPr>
        <p:spPr>
          <a:xfrm>
            <a:off x="2195036" y="5362575"/>
            <a:ext cx="7554278" cy="939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6286"/>
              </a:lnSpc>
              <a:buNone/>
            </a:pPr>
            <a:r>
              <a:rPr lang="en-US" sz="1200" dirty="0">
                <a:solidFill>
                  <a:srgbClr val="2733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During this three-month internship, Abhijit Santosh Karande contributed to live client and in-house web projects, building responsive, accessible and user-friendly interfaces. The intern demonstrated a strong command of modern frontend technologies, sound problem-solving ability and a consistent commitment to clean, well-documented, quality work.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1790700" y="6437601"/>
            <a:ext cx="2766255" cy="9525"/>
          </a:xfrm>
          <a:prstGeom prst="rect">
            <a:avLst/>
          </a:prstGeom>
          <a:solidFill>
            <a:srgbClr val="9AA8A1"/>
          </a:solidFill>
          <a:ln/>
        </p:spPr>
      </p:sp>
      <p:sp>
        <p:nvSpPr>
          <p:cNvPr id="34" name="Text 30"/>
          <p:cNvSpPr/>
          <p:nvPr/>
        </p:nvSpPr>
        <p:spPr>
          <a:xfrm>
            <a:off x="4728405" y="6362700"/>
            <a:ext cx="2903815" cy="197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263" dirty="0">
                <a:solidFill>
                  <a:srgbClr val="1023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 SKILLS &amp; TECHNOLOGIES</a:t>
            </a:r>
            <a:endParaRPr lang="en-US" sz="975" dirty="0"/>
          </a:p>
        </p:txBody>
      </p:sp>
      <p:sp>
        <p:nvSpPr>
          <p:cNvPr id="35" name="Shape 31"/>
          <p:cNvSpPr/>
          <p:nvPr/>
        </p:nvSpPr>
        <p:spPr>
          <a:xfrm>
            <a:off x="7539687" y="6437601"/>
            <a:ext cx="2766363" cy="9525"/>
          </a:xfrm>
          <a:prstGeom prst="rect">
            <a:avLst/>
          </a:prstGeom>
          <a:solidFill>
            <a:srgbClr val="9AA8A1"/>
          </a:solidFill>
          <a:ln/>
        </p:spPr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0700" y="6619875"/>
            <a:ext cx="704850" cy="70485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1874260" y="7400925"/>
            <a:ext cx="53773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87260"/>
              </a:lnSpc>
              <a:buNone/>
            </a:pPr>
            <a:r>
              <a:rPr lang="en-US" sz="1125" dirty="0">
                <a:solidFill>
                  <a:srgbClr val="1D2A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HTML5</a:t>
            </a:r>
            <a:endParaRPr lang="en-US" sz="1125" dirty="0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2486" y="6619875"/>
            <a:ext cx="704850" cy="70485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3215229" y="7400925"/>
            <a:ext cx="45936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87260"/>
              </a:lnSpc>
              <a:buNone/>
            </a:pPr>
            <a:r>
              <a:rPr lang="en-US" sz="1125" dirty="0">
                <a:solidFill>
                  <a:srgbClr val="1D2A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CSS3</a:t>
            </a:r>
            <a:endParaRPr lang="en-US" sz="1125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4164" y="6619875"/>
            <a:ext cx="704850" cy="70485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4360502" y="7400925"/>
            <a:ext cx="77217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87260"/>
              </a:lnSpc>
              <a:buNone/>
            </a:pPr>
            <a:r>
              <a:rPr lang="en-US" sz="1125" dirty="0">
                <a:solidFill>
                  <a:srgbClr val="1D2A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JavaScript</a:t>
            </a:r>
            <a:endParaRPr lang="en-US" sz="1125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95950" y="6619875"/>
            <a:ext cx="704850" cy="70485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5738812" y="7400925"/>
            <a:ext cx="619017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87260"/>
              </a:lnSpc>
              <a:buNone/>
            </a:pPr>
            <a:r>
              <a:rPr lang="en-US" sz="1125" dirty="0">
                <a:solidFill>
                  <a:srgbClr val="1D2A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React.js</a:t>
            </a:r>
            <a:endParaRPr lang="en-US" sz="1125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7736" y="6619875"/>
            <a:ext cx="704850" cy="704850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6884086" y="7400925"/>
            <a:ext cx="93204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87260"/>
              </a:lnSpc>
              <a:buNone/>
            </a:pPr>
            <a:r>
              <a:rPr lang="en-US" sz="1125" dirty="0">
                <a:solidFill>
                  <a:srgbClr val="1D2A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Tailwind CSS</a:t>
            </a:r>
            <a:endParaRPr lang="en-US" sz="1125" dirty="0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99414" y="6619875"/>
            <a:ext cx="704850" cy="70485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8190418" y="7400925"/>
            <a:ext cx="92273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87260"/>
              </a:lnSpc>
              <a:buNone/>
            </a:pPr>
            <a:r>
              <a:rPr lang="en-US" sz="1125" dirty="0">
                <a:solidFill>
                  <a:srgbClr val="1D2A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Git &amp; GitHub</a:t>
            </a:r>
            <a:endParaRPr lang="en-US" sz="1125" dirty="0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1200" y="6619875"/>
            <a:ext cx="704850" cy="704850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9439275" y="7400925"/>
            <a:ext cx="102870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87260"/>
              </a:lnSpc>
              <a:buNone/>
            </a:pPr>
            <a:r>
              <a:rPr lang="en-US" sz="1125" dirty="0">
                <a:solidFill>
                  <a:srgbClr val="1D2A24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Responsive Web Design</a:t>
            </a:r>
            <a:endParaRPr lang="en-US" sz="1125" dirty="0"/>
          </a:p>
        </p:txBody>
      </p:sp>
      <p:sp>
        <p:nvSpPr>
          <p:cNvPr id="50" name="Shape 39"/>
          <p:cNvSpPr/>
          <p:nvPr/>
        </p:nvSpPr>
        <p:spPr>
          <a:xfrm>
            <a:off x="1790700" y="7837776"/>
            <a:ext cx="2692977" cy="9525"/>
          </a:xfrm>
          <a:prstGeom prst="rect">
            <a:avLst/>
          </a:prstGeom>
          <a:solidFill>
            <a:srgbClr val="9AA8A1"/>
          </a:solidFill>
          <a:ln/>
        </p:spPr>
      </p:sp>
      <p:sp>
        <p:nvSpPr>
          <p:cNvPr id="51" name="Text 40"/>
          <p:cNvSpPr/>
          <p:nvPr/>
        </p:nvSpPr>
        <p:spPr>
          <a:xfrm>
            <a:off x="4655127" y="7762875"/>
            <a:ext cx="3065145" cy="197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263" dirty="0">
                <a:solidFill>
                  <a:srgbClr val="1023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PROJECTS &amp; RESPONSIBILITIES</a:t>
            </a:r>
            <a:endParaRPr lang="en-US" sz="975" dirty="0"/>
          </a:p>
        </p:txBody>
      </p:sp>
      <p:sp>
        <p:nvSpPr>
          <p:cNvPr id="52" name="Shape 41"/>
          <p:cNvSpPr/>
          <p:nvPr/>
        </p:nvSpPr>
        <p:spPr>
          <a:xfrm>
            <a:off x="7613073" y="7837776"/>
            <a:ext cx="2692977" cy="9525"/>
          </a:xfrm>
          <a:prstGeom prst="rect">
            <a:avLst/>
          </a:prstGeom>
          <a:solidFill>
            <a:srgbClr val="9AA8A1"/>
          </a:solidFill>
          <a:ln/>
        </p:spPr>
      </p:sp>
      <p:sp>
        <p:nvSpPr>
          <p:cNvPr id="53" name="Shape 42"/>
          <p:cNvSpPr/>
          <p:nvPr/>
        </p:nvSpPr>
        <p:spPr>
          <a:xfrm>
            <a:off x="2781300" y="7994506"/>
            <a:ext cx="180975" cy="180975"/>
          </a:xfrm>
          <a:prstGeom prst="ellipse">
            <a:avLst/>
          </a:prstGeom>
          <a:solidFill>
            <a:srgbClr val="0D5A3A"/>
          </a:solidFill>
          <a:ln/>
        </p:spPr>
      </p:sp>
      <p:sp>
        <p:nvSpPr>
          <p:cNvPr id="54" name="Text 43"/>
          <p:cNvSpPr/>
          <p:nvPr/>
        </p:nvSpPr>
        <p:spPr>
          <a:xfrm>
            <a:off x="2743200" y="7994506"/>
            <a:ext cx="2571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900" dirty="0"/>
          </a:p>
        </p:txBody>
      </p:sp>
      <p:sp>
        <p:nvSpPr>
          <p:cNvPr id="55" name="Text 44"/>
          <p:cNvSpPr/>
          <p:nvPr/>
        </p:nvSpPr>
        <p:spPr>
          <a:xfrm>
            <a:off x="3076575" y="7991475"/>
            <a:ext cx="7465457" cy="225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63" dirty="0">
                <a:solidFill>
                  <a:srgbClr val="2733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Designed and developed responsive, cross-browser web pages with HTML5, CSS3 and JavaScript</a:t>
            </a:r>
            <a:endParaRPr lang="en-US" sz="1163" dirty="0"/>
          </a:p>
        </p:txBody>
      </p:sp>
      <p:sp>
        <p:nvSpPr>
          <p:cNvPr id="56" name="Shape 45"/>
          <p:cNvSpPr/>
          <p:nvPr/>
        </p:nvSpPr>
        <p:spPr>
          <a:xfrm>
            <a:off x="2781300" y="8229167"/>
            <a:ext cx="180975" cy="180975"/>
          </a:xfrm>
          <a:prstGeom prst="ellipse">
            <a:avLst/>
          </a:prstGeom>
          <a:solidFill>
            <a:srgbClr val="0D5A3A"/>
          </a:solidFill>
          <a:ln/>
        </p:spPr>
      </p:sp>
      <p:sp>
        <p:nvSpPr>
          <p:cNvPr id="57" name="Text 46"/>
          <p:cNvSpPr/>
          <p:nvPr/>
        </p:nvSpPr>
        <p:spPr>
          <a:xfrm>
            <a:off x="2743200" y="8229167"/>
            <a:ext cx="2571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900" dirty="0"/>
          </a:p>
        </p:txBody>
      </p:sp>
      <p:sp>
        <p:nvSpPr>
          <p:cNvPr id="58" name="Text 47"/>
          <p:cNvSpPr/>
          <p:nvPr/>
        </p:nvSpPr>
        <p:spPr>
          <a:xfrm>
            <a:off x="3076575" y="8226137"/>
            <a:ext cx="6586895" cy="225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63" dirty="0">
                <a:solidFill>
                  <a:srgbClr val="2733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Built reusable React.js components and styled production interfaces with Tailwind CSS</a:t>
            </a:r>
            <a:endParaRPr lang="en-US" sz="1163" dirty="0"/>
          </a:p>
        </p:txBody>
      </p:sp>
      <p:sp>
        <p:nvSpPr>
          <p:cNvPr id="59" name="Shape 48"/>
          <p:cNvSpPr/>
          <p:nvPr/>
        </p:nvSpPr>
        <p:spPr>
          <a:xfrm>
            <a:off x="2781300" y="8463829"/>
            <a:ext cx="180975" cy="180975"/>
          </a:xfrm>
          <a:prstGeom prst="ellipse">
            <a:avLst/>
          </a:prstGeom>
          <a:solidFill>
            <a:srgbClr val="0D5A3A"/>
          </a:solidFill>
          <a:ln/>
        </p:spPr>
      </p:sp>
      <p:sp>
        <p:nvSpPr>
          <p:cNvPr id="60" name="Text 49"/>
          <p:cNvSpPr/>
          <p:nvPr/>
        </p:nvSpPr>
        <p:spPr>
          <a:xfrm>
            <a:off x="2743200" y="8463829"/>
            <a:ext cx="2571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900" dirty="0"/>
          </a:p>
        </p:txBody>
      </p:sp>
      <p:sp>
        <p:nvSpPr>
          <p:cNvPr id="61" name="Text 50"/>
          <p:cNvSpPr/>
          <p:nvPr/>
        </p:nvSpPr>
        <p:spPr>
          <a:xfrm>
            <a:off x="3076575" y="8460798"/>
            <a:ext cx="6665834" cy="225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63" dirty="0">
                <a:solidFill>
                  <a:srgbClr val="27332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Delivered features and bug fixes through Git &amp; GitHub workflows and peer code reviews</a:t>
            </a:r>
            <a:endParaRPr lang="en-US" sz="1163" dirty="0"/>
          </a:p>
        </p:txBody>
      </p:sp>
      <p:sp>
        <p:nvSpPr>
          <p:cNvPr id="63" name="Shape 51"/>
          <p:cNvSpPr/>
          <p:nvPr/>
        </p:nvSpPr>
        <p:spPr>
          <a:xfrm>
            <a:off x="1362075" y="9020175"/>
            <a:ext cx="2533650" cy="14288"/>
          </a:xfrm>
          <a:prstGeom prst="rect">
            <a:avLst/>
          </a:prstGeom>
          <a:solidFill>
            <a:srgbClr val="3B4A43"/>
          </a:solidFill>
          <a:ln/>
        </p:spPr>
      </p:sp>
      <p:sp>
        <p:nvSpPr>
          <p:cNvPr id="64" name="Text 52"/>
          <p:cNvSpPr/>
          <p:nvPr/>
        </p:nvSpPr>
        <p:spPr>
          <a:xfrm>
            <a:off x="1362075" y="9086850"/>
            <a:ext cx="1200475" cy="197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1023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SHUBHAM CHAVAN</a:t>
            </a:r>
            <a:endParaRPr lang="en-US" sz="1013" dirty="0"/>
          </a:p>
        </p:txBody>
      </p:sp>
      <p:sp>
        <p:nvSpPr>
          <p:cNvPr id="65" name="Text 53"/>
          <p:cNvSpPr/>
          <p:nvPr/>
        </p:nvSpPr>
        <p:spPr>
          <a:xfrm>
            <a:off x="1362075" y="9258300"/>
            <a:ext cx="2467094" cy="197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3B4A4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HR MANAGER </a:t>
            </a:r>
            <a:r>
              <a:rPr lang="en-US" sz="1013" dirty="0" err="1">
                <a:solidFill>
                  <a:srgbClr val="3B4A4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Stively</a:t>
            </a:r>
            <a:r>
              <a:rPr lang="en-US" sz="1013" dirty="0">
                <a:solidFill>
                  <a:srgbClr val="3B4A4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Technologies</a:t>
            </a:r>
            <a:endParaRPr lang="en-US" sz="1013" dirty="0"/>
          </a:p>
        </p:txBody>
      </p:sp>
      <p:sp>
        <p:nvSpPr>
          <p:cNvPr id="66" name="Text 54"/>
          <p:cNvSpPr/>
          <p:nvPr/>
        </p:nvSpPr>
        <p:spPr>
          <a:xfrm>
            <a:off x="1362075" y="9496425"/>
            <a:ext cx="2143006" cy="1835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kern="0" spc="225" dirty="0">
                <a:solidFill>
                  <a:srgbClr val="1023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STIVELY TECHNOLOGIES</a:t>
            </a:r>
            <a:endParaRPr lang="en-US" sz="900" dirty="0"/>
          </a:p>
        </p:txBody>
      </p:sp>
      <p:sp>
        <p:nvSpPr>
          <p:cNvPr id="67" name="Text 55"/>
          <p:cNvSpPr/>
          <p:nvPr/>
        </p:nvSpPr>
        <p:spPr>
          <a:xfrm>
            <a:off x="1362075" y="9667875"/>
            <a:ext cx="4689991" cy="1558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13" kern="0" spc="150" dirty="0">
                <a:solidFill>
                  <a:srgbClr val="3B4A4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UDYM / MSMEREG NO. UDYM-RJ-17-0578717</a:t>
            </a:r>
            <a:endParaRPr lang="en-US" sz="713" dirty="0"/>
          </a:p>
        </p:txBody>
      </p:sp>
      <p:pic>
        <p:nvPicPr>
          <p:cNvPr id="68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39219" y="8648598"/>
            <a:ext cx="285750" cy="742950"/>
          </a:xfrm>
          <a:prstGeom prst="rect">
            <a:avLst/>
          </a:prstGeom>
        </p:spPr>
      </p:pic>
      <p:sp>
        <p:nvSpPr>
          <p:cNvPr id="69" name="Text 56"/>
          <p:cNvSpPr/>
          <p:nvPr/>
        </p:nvSpPr>
        <p:spPr>
          <a:xfrm>
            <a:off x="8286750" y="8734425"/>
            <a:ext cx="219075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62500"/>
              </a:lnSpc>
              <a:buNone/>
            </a:pPr>
            <a:r>
              <a:rPr lang="en-US" sz="938" b="1" kern="0" spc="225" dirty="0">
                <a:solidFill>
                  <a:srgbClr val="1023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BUILDING A MORE CAPABLE GENERATION</a:t>
            </a:r>
            <a:endParaRPr lang="en-US" sz="938" dirty="0"/>
          </a:p>
        </p:txBody>
      </p:sp>
      <p:sp>
        <p:nvSpPr>
          <p:cNvPr id="70" name="Shape 57"/>
          <p:cNvSpPr/>
          <p:nvPr/>
        </p:nvSpPr>
        <p:spPr>
          <a:xfrm>
            <a:off x="9191625" y="9286875"/>
            <a:ext cx="381000" cy="19050"/>
          </a:xfrm>
          <a:prstGeom prst="rect">
            <a:avLst/>
          </a:prstGeom>
          <a:solidFill>
            <a:srgbClr val="1FB488"/>
          </a:solidFill>
          <a:ln/>
        </p:spPr>
      </p:sp>
      <p:pic>
        <p:nvPicPr>
          <p:cNvPr id="71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13098" y="8608002"/>
            <a:ext cx="285750" cy="742950"/>
          </a:xfrm>
          <a:prstGeom prst="rect">
            <a:avLst/>
          </a:prstGeom>
        </p:spPr>
      </p:pic>
      <p:sp>
        <p:nvSpPr>
          <p:cNvPr id="72" name="Text 58"/>
          <p:cNvSpPr/>
          <p:nvPr/>
        </p:nvSpPr>
        <p:spPr>
          <a:xfrm>
            <a:off x="9267825" y="9515475"/>
            <a:ext cx="1498283" cy="1974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50" dirty="0">
                <a:solidFill>
                  <a:srgbClr val="1023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www.stively.com</a:t>
            </a:r>
            <a:endParaRPr lang="en-US" sz="975" dirty="0"/>
          </a:p>
        </p:txBody>
      </p:sp>
      <p:sp>
        <p:nvSpPr>
          <p:cNvPr id="73" name="Shape 59"/>
          <p:cNvSpPr/>
          <p:nvPr/>
        </p:nvSpPr>
        <p:spPr>
          <a:xfrm>
            <a:off x="11096625" y="161925"/>
            <a:ext cx="2957080" cy="9710305"/>
          </a:xfrm>
          <a:prstGeom prst="rect">
            <a:avLst/>
          </a:prstGeom>
          <a:solidFill>
            <a:srgbClr val="0A3526"/>
          </a:solidFill>
          <a:ln w="6927">
            <a:solidFill>
              <a:srgbClr val="B89A4E"/>
            </a:solidFill>
            <a:prstDash val="solid"/>
          </a:ln>
        </p:spPr>
      </p:sp>
      <p:sp>
        <p:nvSpPr>
          <p:cNvPr id="74" name="Text 60"/>
          <p:cNvSpPr/>
          <p:nvPr/>
        </p:nvSpPr>
        <p:spPr>
          <a:xfrm>
            <a:off x="11389302" y="626052"/>
            <a:ext cx="2552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61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Practical Experience for a Smarter Future</a:t>
            </a:r>
            <a:endParaRPr lang="en-US" sz="1800" dirty="0"/>
          </a:p>
        </p:txBody>
      </p:sp>
      <p:sp>
        <p:nvSpPr>
          <p:cNvPr id="75" name="Shape 61"/>
          <p:cNvSpPr/>
          <p:nvPr/>
        </p:nvSpPr>
        <p:spPr>
          <a:xfrm>
            <a:off x="11389302" y="1311852"/>
            <a:ext cx="495300" cy="28575"/>
          </a:xfrm>
          <a:prstGeom prst="rect">
            <a:avLst/>
          </a:prstGeom>
          <a:solidFill>
            <a:srgbClr val="1FD1A0"/>
          </a:solidFill>
          <a:ln/>
        </p:spPr>
      </p:sp>
      <p:sp>
        <p:nvSpPr>
          <p:cNvPr id="76" name="Text 62"/>
          <p:cNvSpPr/>
          <p:nvPr/>
        </p:nvSpPr>
        <p:spPr>
          <a:xfrm>
            <a:off x="11389302" y="1692852"/>
            <a:ext cx="198834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507"/>
              </a:lnSpc>
              <a:buNone/>
            </a:pPr>
            <a:r>
              <a:rPr lang="en-US" sz="1650" dirty="0">
                <a:solidFill>
                  <a:srgbClr val="DCE8E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“Learn Today</a:t>
            </a:r>
            <a:endParaRPr lang="en-US" sz="1650" dirty="0"/>
          </a:p>
        </p:txBody>
      </p:sp>
      <p:sp>
        <p:nvSpPr>
          <p:cNvPr id="77" name="Text 63"/>
          <p:cNvSpPr/>
          <p:nvPr/>
        </p:nvSpPr>
        <p:spPr>
          <a:xfrm>
            <a:off x="11484552" y="1954790"/>
            <a:ext cx="189309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9507"/>
              </a:lnSpc>
              <a:buNone/>
            </a:pPr>
            <a:r>
              <a:rPr lang="en-US" sz="1650" b="1" dirty="0">
                <a:solidFill>
                  <a:srgbClr val="1FD1A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Build Tomorrow”</a:t>
            </a:r>
            <a:endParaRPr lang="en-US" sz="1650" dirty="0"/>
          </a:p>
        </p:txBody>
      </p:sp>
      <p:pic>
        <p:nvPicPr>
          <p:cNvPr id="78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98802" y="2502477"/>
            <a:ext cx="2743200" cy="2743200"/>
          </a:xfrm>
          <a:prstGeom prst="rect">
            <a:avLst/>
          </a:prstGeom>
        </p:spPr>
      </p:pic>
      <p:pic>
        <p:nvPicPr>
          <p:cNvPr id="79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341677" y="5455227"/>
            <a:ext cx="361950" cy="361950"/>
          </a:xfrm>
          <a:prstGeom prst="rect">
            <a:avLst/>
          </a:prstGeom>
        </p:spPr>
      </p:pic>
      <p:sp>
        <p:nvSpPr>
          <p:cNvPr id="80" name="Text 64"/>
          <p:cNvSpPr/>
          <p:nvPr/>
        </p:nvSpPr>
        <p:spPr>
          <a:xfrm>
            <a:off x="11894127" y="5546148"/>
            <a:ext cx="1467326" cy="218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Real-world Projects</a:t>
            </a:r>
            <a:endParaRPr lang="en-US" sz="1125" dirty="0"/>
          </a:p>
        </p:txBody>
      </p:sp>
      <p:pic>
        <p:nvPicPr>
          <p:cNvPr id="81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341677" y="5912427"/>
            <a:ext cx="361950" cy="361950"/>
          </a:xfrm>
          <a:prstGeom prst="rect">
            <a:avLst/>
          </a:prstGeom>
        </p:spPr>
      </p:pic>
      <p:sp>
        <p:nvSpPr>
          <p:cNvPr id="82" name="Text 65"/>
          <p:cNvSpPr/>
          <p:nvPr/>
        </p:nvSpPr>
        <p:spPr>
          <a:xfrm>
            <a:off x="11894127" y="6003348"/>
            <a:ext cx="1742123" cy="218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Mentorship &amp; Guidance</a:t>
            </a:r>
            <a:endParaRPr lang="en-US" sz="1125" dirty="0"/>
          </a:p>
        </p:txBody>
      </p:sp>
      <p:pic>
        <p:nvPicPr>
          <p:cNvPr id="83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41677" y="6369627"/>
            <a:ext cx="361950" cy="361950"/>
          </a:xfrm>
          <a:prstGeom prst="rect">
            <a:avLst/>
          </a:prstGeom>
        </p:spPr>
      </p:pic>
      <p:sp>
        <p:nvSpPr>
          <p:cNvPr id="84" name="Text 66"/>
          <p:cNvSpPr/>
          <p:nvPr/>
        </p:nvSpPr>
        <p:spPr>
          <a:xfrm>
            <a:off x="11894127" y="6460548"/>
            <a:ext cx="1619012" cy="218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Hands-on Experience</a:t>
            </a:r>
            <a:endParaRPr lang="en-US" sz="1125" dirty="0"/>
          </a:p>
        </p:txBody>
      </p:sp>
      <p:pic>
        <p:nvPicPr>
          <p:cNvPr id="85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341677" y="6826827"/>
            <a:ext cx="361950" cy="361950"/>
          </a:xfrm>
          <a:prstGeom prst="rect">
            <a:avLst/>
          </a:prstGeom>
        </p:spPr>
      </p:pic>
      <p:sp>
        <p:nvSpPr>
          <p:cNvPr id="86" name="Text 67"/>
          <p:cNvSpPr/>
          <p:nvPr/>
        </p:nvSpPr>
        <p:spPr>
          <a:xfrm>
            <a:off x="11894127" y="6917748"/>
            <a:ext cx="2177772" cy="2182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Career Growth Opportunities</a:t>
            </a:r>
            <a:endParaRPr lang="en-US" sz="1125" dirty="0"/>
          </a:p>
        </p:txBody>
      </p:sp>
      <p:sp>
        <p:nvSpPr>
          <p:cNvPr id="87" name="Shape 68"/>
          <p:cNvSpPr/>
          <p:nvPr/>
        </p:nvSpPr>
        <p:spPr>
          <a:xfrm>
            <a:off x="11389302" y="7493577"/>
            <a:ext cx="2400300" cy="9525"/>
          </a:xfrm>
          <a:prstGeom prst="rect">
            <a:avLst/>
          </a:prstGeom>
          <a:solidFill>
            <a:srgbClr val="1FD1A0">
              <a:alpha val="50000"/>
            </a:srgbClr>
          </a:solidFill>
          <a:ln/>
        </p:spPr>
      </p:sp>
      <p:sp>
        <p:nvSpPr>
          <p:cNvPr id="88" name="Shape 69"/>
          <p:cNvSpPr/>
          <p:nvPr/>
        </p:nvSpPr>
        <p:spPr>
          <a:xfrm>
            <a:off x="11922702" y="7645977"/>
            <a:ext cx="1314450" cy="1552575"/>
          </a:xfrm>
          <a:prstGeom prst="roundRect">
            <a:avLst>
              <a:gd name="adj" fmla="val 2899"/>
            </a:avLst>
          </a:prstGeom>
          <a:ln w="13855">
            <a:solidFill>
              <a:srgbClr val="1FD1A0"/>
            </a:solidFill>
            <a:prstDash val="solid"/>
          </a:ln>
        </p:spPr>
      </p:sp>
      <p:pic>
        <p:nvPicPr>
          <p:cNvPr id="8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017952" y="7755082"/>
            <a:ext cx="1123950" cy="1123950"/>
          </a:xfrm>
          <a:prstGeom prst="rect">
            <a:avLst/>
          </a:prstGeom>
        </p:spPr>
      </p:pic>
      <p:sp>
        <p:nvSpPr>
          <p:cNvPr id="90" name="Text 70"/>
          <p:cNvSpPr/>
          <p:nvPr/>
        </p:nvSpPr>
        <p:spPr>
          <a:xfrm>
            <a:off x="12017194" y="8955232"/>
            <a:ext cx="1201557" cy="1697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kern="0" spc="38" dirty="0">
                <a:solidFill>
                  <a:srgbClr val="1FD1A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VERIFY CERTIFICATE</a:t>
            </a:r>
            <a:endParaRPr lang="en-US" sz="825" dirty="0"/>
          </a:p>
        </p:txBody>
      </p:sp>
      <p:sp>
        <p:nvSpPr>
          <p:cNvPr id="91" name="Text 71"/>
          <p:cNvSpPr/>
          <p:nvPr/>
        </p:nvSpPr>
        <p:spPr>
          <a:xfrm>
            <a:off x="10956391" y="9312852"/>
            <a:ext cx="323754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938" dirty="0">
                <a:solidFill>
                  <a:srgbClr val="E6EF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stively.com/verify/STV-FE-INT-2026-0011</a:t>
            </a:r>
            <a:endParaRPr lang="en-US" sz="938" dirty="0"/>
          </a:p>
        </p:txBody>
      </p:sp>
      <p:sp>
        <p:nvSpPr>
          <p:cNvPr id="95" name="Text 52">
            <a:extLst>
              <a:ext uri="{FF2B5EF4-FFF2-40B4-BE49-F238E27FC236}">
                <a16:creationId xmlns:a16="http://schemas.microsoft.com/office/drawing/2014/main" id="{8D479688-77D2-DBA9-5CF4-E06164C56608}"/>
              </a:ext>
            </a:extLst>
          </p:cNvPr>
          <p:cNvSpPr/>
          <p:nvPr/>
        </p:nvSpPr>
        <p:spPr>
          <a:xfrm rot="21329199">
            <a:off x="1451642" y="8647053"/>
            <a:ext cx="1928553" cy="5766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0231B"/>
                </a:solidFill>
                <a:latin typeface="Brush Script MT" panose="03060802040406070304" pitchFamily="66" charset="0"/>
                <a:ea typeface="Plus Jakarta Sans" pitchFamily="34" charset="-122"/>
              </a:rPr>
              <a:t>Shubham…</a:t>
            </a:r>
            <a:endParaRPr lang="en-US" sz="2400" b="1" dirty="0">
              <a:latin typeface="Brush Script MT" panose="03060802040406070304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229</Words>
  <Application>Microsoft Office PowerPoint</Application>
  <PresentationFormat>Custom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Brush Script MT</vt:lpstr>
      <vt:lpstr>Playfair Display</vt:lpstr>
      <vt:lpstr>Plus Jakarta Sans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ABHIJIT KARANDE</cp:lastModifiedBy>
  <cp:revision>2</cp:revision>
  <dcterms:created xsi:type="dcterms:W3CDTF">2026-09-24T17:41:42Z</dcterms:created>
  <dcterms:modified xsi:type="dcterms:W3CDTF">2026-09-24T17:51:14Z</dcterms:modified>
</cp:coreProperties>
</file>